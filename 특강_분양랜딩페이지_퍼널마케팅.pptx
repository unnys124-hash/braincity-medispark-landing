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868680"/>
            <a:ext cx="109728" cy="4572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8686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분양 마케팅 실전 특강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분양 홍보 랜딩페이지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퍼널 마케팅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문의(DB)를 2배로 만드는 설계 — 브레인시티 메디스파크 사례</a:t>
            </a:r>
          </a:p>
        </p:txBody>
      </p:sp>
      <p:pic>
        <p:nvPicPr>
          <p:cNvPr id="7" name="Picture 6" descr="hero_r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6280"/>
            <a:ext cx="12191695" cy="4517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5302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106070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2026.06  |  </a:t>
            </a:r>
            <a:r>
              <a:rPr sz="1300"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분양</a:t>
            </a:r>
            <a:r>
              <a:rPr sz="13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랜딩페이지</a:t>
            </a:r>
            <a:r>
              <a:rPr sz="13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× </a:t>
            </a:r>
            <a:r>
              <a:rPr sz="1300"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퍼널</a:t>
            </a:r>
            <a:r>
              <a:rPr sz="13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마케팅</a:t>
            </a:r>
            <a:endParaRPr sz="1300" b="1" i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014103"/>
            <a:ext cx="10607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dirty="0" err="1">
                <a:solidFill>
                  <a:schemeClr val="bg1"/>
                </a:solidFill>
                <a:latin typeface="맑은 고딕"/>
              </a:rPr>
              <a:t>미래이음연구소</a:t>
            </a:r>
            <a:r>
              <a:rPr sz="1500" b="0" dirty="0">
                <a:solidFill>
                  <a:schemeClr val="bg1"/>
                </a:solidFill>
                <a:latin typeface="맑은 고딕"/>
              </a:rPr>
              <a:t>  </a:t>
            </a:r>
            <a:r>
              <a:rPr sz="1600" b="1" dirty="0">
                <a:solidFill>
                  <a:schemeClr val="bg1"/>
                </a:solidFill>
                <a:latin typeface="맑은 고딕"/>
              </a:rPr>
              <a:t>이신우 </a:t>
            </a:r>
            <a:r>
              <a:rPr sz="1600" b="1" dirty="0" err="1">
                <a:solidFill>
                  <a:schemeClr val="bg1"/>
                </a:solidFill>
                <a:latin typeface="맑은 고딕"/>
              </a:rPr>
              <a:t>소장</a:t>
            </a:r>
            <a:endParaRPr sz="1600" b="1" dirty="0">
              <a:solidFill>
                <a:schemeClr val="bg1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PROBLEM  · 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유입은 많은데, 왜 문의가 없을까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908792" cy="1051560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728" cy="105156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분양 마케팅의 본질 문제 = 유입 대비 전환(문의)이 적다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게다가 들어온 DB의 상당수가 허수(비실수요)다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5349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91440" cy="137160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19272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① 전환율이 낮다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광고비로 트래픽은 끌어오지만 페이지에서 문의로 이어지지 않는다.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154680"/>
            <a:ext cx="5349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3154680"/>
            <a:ext cx="91440" cy="13716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319272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② DB의 질이 낮다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수집된 연락처의 다수가 단순 클릭·이벤트성 허수로 상담 효율이 떨어진다.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00600"/>
            <a:ext cx="10908792" cy="1325880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800600"/>
            <a:ext cx="109728" cy="132588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9834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그래서 트렌드가 이동 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'DB 수집 → 바로 콜'  →   'DB 수집 → 자동화 넛지 → 검증된 콜'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INSIGHT  ·  심리 장벽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왜 문의를 안 하나 — 3가지 심리 장벽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5204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0440" cy="64008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 심리 장벽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974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"연락하면 전화 폭탄 오는 거 아냐?"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5760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가장 큰 장벽. 등록 즉시 쏟아질 영업 전화에 대한 두려움.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35204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3520440" cy="64008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1901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 심리 장벽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974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"분양가가 얼마인지 여기선 안 알려주네"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65760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정보 비대칭 → 가격을 숨기면 신뢰가 깨지고 이탈한다.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1828800"/>
            <a:ext cx="35204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28432" y="1828800"/>
            <a:ext cx="3520440" cy="640080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1901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 심리 장벽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6974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"지금 꼭 등록할 이유가 없어"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65760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긴급성 부재 → '나중에'는 곧 영영 안 함을 의미한다.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92040"/>
            <a:ext cx="10908792" cy="1143000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892040"/>
            <a:ext cx="109728" cy="11430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07492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문의를 늘리는 본질 = 이 3가지 불안을 페이지에서 '미리' 제거하는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FRAMEWORK  ·  퍼널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퍼널 구조 — AIDA × TOFU-MOFU-BOFU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4290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429000" cy="56692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1168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유입 · TOFU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79192"/>
            <a:ext cx="30998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메타 / 네이버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유튜브 / 검색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60" y="2560320"/>
            <a:ext cx="502920" cy="502920"/>
          </a:xfrm>
          <a:prstGeom prst="rightArrow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965960"/>
            <a:ext cx="34290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9976" y="1965960"/>
            <a:ext cx="3429000" cy="56692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01168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랜딩페이지 = 전환엔진 · MOFU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0998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주목 → 흥미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→ 욕구 → 행동 (AIDA)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63256" y="2560320"/>
            <a:ext cx="502920" cy="502920"/>
          </a:xfrm>
          <a:prstGeom prst="rightArrow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1965960"/>
            <a:ext cx="34290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19872" y="1965960"/>
            <a:ext cx="3429000" cy="566928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201168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후속 자동화 · BOFU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679192"/>
            <a:ext cx="30998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알림톡 넛지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→ 검증 후 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60520"/>
            <a:ext cx="10908792" cy="1783080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160520"/>
            <a:ext cx="109728" cy="178308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핵심 원칙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랜딩페이지의 목표는 '계약'이 아니라 'DB 1건'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→ 심리 허들을 낮춰 전환율을 끌어올린다. 계약은 검증된 콜·상담 단계의 몫.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BLUEPRINT  ·  섹션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랜딩페이지 섹션 청사진 (위 → 아래)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017520" cy="47548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히어로 (3초)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78308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78308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단지명 + 후킹카피 + 분양가 / 입주 / 세대수 / 위치 즉시 노출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3017520" cy="47548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입지 · 교통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33172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233172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역세권·도로망 등 입지 강점을 지도·아이콘으로 시각화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3017520" cy="47548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단지가치 · 평면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288036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288036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단지 배치·세대 평면·커뮤니티 등 상품 가치 전달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3017520" cy="47548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프리미엄 / 시세비교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342900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342900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인근 시세·미래가치 비교로 투자 매력 강조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77640"/>
            <a:ext cx="3017520" cy="47548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97764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희소성 · 카운트다운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97764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86200" y="397764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잔여세대·마감 임박 타이머로 지금 행동할 이유 제공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3017520" cy="47548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관심고객 등록폼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452628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86200" y="452628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이름 + 연락처만 — 필드 최소화로 전환 허들 제거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074920"/>
            <a:ext cx="3017520" cy="47548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074920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⑦ FAQ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5074920"/>
            <a:ext cx="784555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86200" y="5074920"/>
            <a:ext cx="7543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분양가·전매·대출 등 자주 묻는 불안 요소 선제 해소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41848"/>
            <a:ext cx="10908792" cy="502920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6418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전 구간 공통: 하단 고정 Sticky CTA (등록 + 전화) 항상 노출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TACTICS  ·  전환 레버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문의 극대화 8가지 레버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822960" cy="96012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01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폼 필드 최소화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입력 항목 2개(이름·연락처)로 마찰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83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783080"/>
            <a:ext cx="822960" cy="9601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1783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1901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Sticky CTA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스크롤 내내 따라오는 고정 행동 버튼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26080"/>
            <a:ext cx="822960" cy="96012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044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"연락폭탄 안 함" 안심문구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가장 큰 불안을 문구로 직접 해소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926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9632" y="2926080"/>
            <a:ext cx="822960" cy="9601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2926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3044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분양가 · 일정을 미끼로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등록 시 분양가표 제공 등 가치 교환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69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069080"/>
            <a:ext cx="822960" cy="96012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069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187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광고 ↔ 페이지 헤드라인 일치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메시지 매칭으로 이탈·이질감 제거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4069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9632" y="4069080"/>
            <a:ext cx="822960" cy="9601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069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4187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희소성 / 마감 타이머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잔여세대·카운트다운으로 긴급성 부여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212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212080"/>
            <a:ext cx="822960" cy="96012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330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모바일 최우선 (로딩 3초)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대부분 모바일 유입 — 속도가 곧 전환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5212080"/>
            <a:ext cx="5349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99632" y="5212080"/>
            <a:ext cx="822960" cy="9601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99632" y="521208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5330952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A/B 테스트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헤드라인·CTA·이미지 지속 실험·개선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AUTOMATION  · 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DB 수집 후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14600" cy="96012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즉시 (0분)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828800"/>
            <a:ext cx="834847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47672"/>
            <a:ext cx="79552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등록 즉시 알림톡으로 '정보 제공'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전화 폭탄 대신 환영 메시지 + 자료로 첫 불안 해소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2514600" cy="9601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D+1 ~ D+3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907792"/>
            <a:ext cx="834847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3026664"/>
            <a:ext cx="79552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단지 영상 · 평면도 · 혜택 순차 발송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단계별 콘텐츠로 니즈를 키우고 관심을 유지(넛지)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86784"/>
            <a:ext cx="2514600" cy="96012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후 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986784"/>
            <a:ext cx="834847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4105656"/>
            <a:ext cx="79552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반응한 실수요 우선 상담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열어보고 클릭한 고객부터 콜 → 허수 거르고 효율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65776"/>
            <a:ext cx="2514600" cy="9601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065776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리마케팅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5065776"/>
            <a:ext cx="834847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5184648"/>
            <a:ext cx="79552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미등록 방문자 · 기존 DB 재타겟팅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이탈자·과거 DB 재접근으로 효율 2~3배 회수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COMPARISON  ·  전후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Before / After — 무엇이 전환율을 갈랐나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377440" cy="512064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783080"/>
            <a:ext cx="4261104" cy="512064"/>
          </a:xfrm>
          <a:prstGeom prst="rect">
            <a:avLst/>
          </a:prstGeom>
          <a:solidFill>
            <a:srgbClr val="96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18688" y="1783080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실패 (Before)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8624" y="1783080"/>
            <a:ext cx="4270248" cy="512064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9792" y="1783080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성공 (After)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50008"/>
            <a:ext cx="2377440" cy="512064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2350008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첫 화면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350008"/>
            <a:ext cx="4261104" cy="512064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18688" y="2350008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조감도만 / 정보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2350008"/>
            <a:ext cx="4270248" cy="512064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792" y="2350008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핵심 4정보 즉시 노출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16936"/>
            <a:ext cx="2377440" cy="512064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2916936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분양가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916936"/>
            <a:ext cx="4261104" cy="512064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18688" y="2916936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전화문의 / 숨김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8624" y="2916936"/>
            <a:ext cx="4270248" cy="512064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9792" y="2916936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범위 공개 + 등록 시 분양가표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83864"/>
            <a:ext cx="2377440" cy="512064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483864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3483864"/>
            <a:ext cx="4261104" cy="512064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18688" y="3483864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필수 8개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8624" y="3483864"/>
            <a:ext cx="4270248" cy="512064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9792" y="3483864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50792"/>
            <a:ext cx="2377440" cy="512064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050792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연락 불안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4050792"/>
            <a:ext cx="4261104" cy="512064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18688" y="4050792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안심문구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78624" y="4050792"/>
            <a:ext cx="4270248" cy="512064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79792" y="4050792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"무분별한 연락 안 함"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17720"/>
            <a:ext cx="2377440" cy="512064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4617720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CTA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617720"/>
            <a:ext cx="4261104" cy="512064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18688" y="4617720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맨 아래 1개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78624" y="4617720"/>
            <a:ext cx="4270248" cy="512064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79792" y="4617720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히어로 + 섹션 + 스티키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184648"/>
            <a:ext cx="2377440" cy="512064"/>
          </a:xfrm>
          <a:prstGeom prst="rect">
            <a:avLst/>
          </a:prstGeom>
          <a:solidFill>
            <a:srgbClr val="F1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5184648"/>
            <a:ext cx="20574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긴급성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5184648"/>
            <a:ext cx="4261104" cy="512064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18688" y="5184648"/>
            <a:ext cx="3941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문구뿐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78624" y="5184648"/>
            <a:ext cx="4270248" cy="512064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79792" y="5184648"/>
            <a:ext cx="39502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카운트다운 + 실시간 카운터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CASE STUDY  ·  적용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적용 사례 — 브레인시티 메디스파크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114800" cy="4343400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4114800" cy="548640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단지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370332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•  평택 브레인시티 6BL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•  1,215세대 (지하2~지상35층, 10개동)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•  전용 59 · 84 · 101㎡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•  주차 세대당 1.41대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•  동간거리 최대 129.1m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F6F2EA"/>
                </a:solidFill>
                <a:latin typeface="맑은 고딕"/>
                <a:ea typeface="맑은 고딕"/>
                <a:cs typeface="맑은 고딕"/>
              </a:rPr>
              <a:t>•  커뮤니티 410평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83080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셀링포인트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286000"/>
            <a:ext cx="6519672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2286000"/>
            <a:ext cx="91440" cy="896112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5232" y="2395728"/>
            <a:ext cx="6126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의료 인프라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아주대병원 도보 3분 (500병상 '30 개원, 의료 R&amp;D, 1천~1.5천명 배후수요)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246120"/>
            <a:ext cx="6519672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3246120"/>
            <a:ext cx="91440" cy="896112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2" y="3355848"/>
            <a:ext cx="6126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교육 환경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초 · 중 도보 1분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4206240"/>
            <a:ext cx="6519672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4206240"/>
            <a:ext cx="91440" cy="896112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5232" y="4315968"/>
            <a:ext cx="6126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녹지 · 공원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근린공원 7,150평 도보 1분 (공품아)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166360"/>
            <a:ext cx="6519672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0" y="5166360"/>
            <a:ext cx="91440" cy="896112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85232" y="5276088"/>
            <a:ext cx="6126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교통망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5개 철도망 — SRT · 1호선 · KTX · GTX-A,C · 동부고속화도로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BUILD  ·  실연동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폼 실연동 (무료 · 무서버)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24612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246120" cy="10972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관심고객 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이름 + 연락처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67912" y="2423160"/>
            <a:ext cx="457200" cy="457200"/>
          </a:xfrm>
          <a:prstGeom prst="rightArrow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15384" y="1920240"/>
            <a:ext cx="324612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15384" y="1920240"/>
            <a:ext cx="3246120" cy="10972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219456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Google Apps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Script 웹앱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9718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무료 · 무서버 처리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43216" y="2423160"/>
            <a:ext cx="457200" cy="457200"/>
          </a:xfrm>
          <a:prstGeom prst="rightArrow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90688" y="1920240"/>
            <a:ext cx="324612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90688" y="1920240"/>
            <a:ext cx="3246120" cy="109728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219456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구글시트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자동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29718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62"/>
                </a:solidFill>
                <a:latin typeface="맑은 고딕"/>
                <a:ea typeface="맑은 고딕"/>
                <a:cs typeface="맑은 고딕"/>
              </a:rPr>
              <a:t>DB 실시간 누적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+ 동시에 담당자 메일 알림 발송 — 신규 DB를 즉시 인지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60520"/>
            <a:ext cx="10908792" cy="1874519"/>
          </a:xfrm>
          <a:prstGeom prst="rect">
            <a:avLst/>
          </a:prstGeom>
          <a:solidFill>
            <a:srgbClr val="E1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109728" cy="1874519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3159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심화 — 한 단계 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•  등록 즉시 카카오 알림톡 API 연동 → 자동 환영·정보 메시지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•  UTM 파라미터로 채널별 전환 추적 → 광고비 효율 분석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•  개인정보 동의 분리 → 수집·마케팅 활용 동의를 명확히 구분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310896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WRAP-UP  · 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실행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920240" cy="41148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3초 안에 핵심정보 노출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830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2512" y="1920240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87452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78308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폼 2~3개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96312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2633472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58775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49631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안심문구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496312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82512" y="2633472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58775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49631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Sticky CTA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09544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3346704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300984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209544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희소성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3209544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82512" y="3346704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3300984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209544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모바일 최우선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22776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" y="4059936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014216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922776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등록 후 알림톡 자동화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3922776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82512" y="4059936"/>
            <a:ext cx="292608" cy="292608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2512" y="4014216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922776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A/B 테스트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983480"/>
            <a:ext cx="10908792" cy="1188720"/>
          </a:xfrm>
          <a:prstGeom prst="rect">
            <a:avLst/>
          </a:prstGeom>
          <a:solidFill>
            <a:srgbClr val="15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4983480"/>
            <a:ext cx="109728" cy="118872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" y="5129784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한 줄 결론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"랜딩페이지는 계약이 아니라 'DB 1건'을 받는 곳. 불안을 제거하면 문의는 따라온다."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32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VIBE CODING with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코덱스앱으로 랜딩페이지 직접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50720"/>
            <a:ext cx="960120" cy="540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00300"/>
            <a:ext cx="97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9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코드를 몰라도, 원하는 걸 '말'로 설명하면 AI가 만들어 줍니다. 코덱스(Codex) 앱에 자연어로 지시하고 → 미리보기 → 다시 말로 수정하는 반복이 '바이브 코딩'입니다.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00000"/>
            <a:ext cx="103632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5A605C"/>
                </a:solidFill>
                <a:latin typeface="맑은 고딕"/>
                <a:ea typeface="맑은 고딕"/>
                <a:cs typeface="맑은 고딕"/>
              </a:rPr>
              <a:t>준비물: 코덱스(Codex) 앱 · 작업 폴더(이미지·자료 포함) · 결과를 열어볼 웹브라우저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32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말로 만들고, 말로 고치는 5단계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50720"/>
            <a:ext cx="960120" cy="540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0000"/>
            <a:ext cx="10363200" cy="3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7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1. 준비  </a:t>
            </a:r>
            <a:r>
              <a:rPr sz="15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작업 폴더에 이미지(image 폴더)·실제 단지 자료를 미리 넣어두기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7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2. 첫 생성  </a:t>
            </a:r>
            <a:r>
              <a:rPr sz="15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만들고 싶은 페이지를 한 번에 자세히 설명(아래 예시 프롬프트①)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7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3. 미리보기  </a:t>
            </a:r>
            <a:r>
              <a:rPr sz="15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생성된 HTML을 브라우저로 열어 확인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7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4. 반복 개선  </a:t>
            </a:r>
            <a:r>
              <a:rPr sz="15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부족한 부분을 자연어로 계속 지시(예시 프롬프트②) = 바이브 코딩의 핵심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7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5. 마무리·배포  </a:t>
            </a:r>
            <a:r>
              <a:rPr sz="150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디버깅(예시 프롬프트③) 후 Vercel·Netlify 등으로 배포하거나 대행사에 전달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80000"/>
            <a:ext cx="10363200" cy="620000"/>
          </a:xfrm>
          <a:prstGeom prst="round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228600" bIns="9144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번에 완벽을 노리지 말고, 작게 나눠 여러 번 지시하세요.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32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PROMPT EXAMPLE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처음 만들 때 — 한 번에 자세히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50720"/>
            <a:ext cx="960120" cy="540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240000"/>
            <a:ext cx="10363200" cy="3640000"/>
          </a:xfrm>
          <a:prstGeom prst="roundRect">
            <a:avLst/>
          </a:prstGeom>
          <a:solidFill>
            <a:srgbClr val="EEEAE2"/>
          </a:solidFill>
          <a:ln w="9525">
            <a:solidFill>
              <a:srgbClr val="B89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평택 브레인시티 '메디스파크 로제비앙·모아엘가' 아파트 분양 홍보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랜딩페이지를 단일 HTML 파일로 만들어줘. 모바일 우선 반응형.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구성: ①히어로(단지명 + '아주대병원 도보 3분' 후킹 카피 +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  분양가범위·1,215세대·전용 59/84/101㎡·위치를 한눈에 + CTA버튼 2개)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②핵심 셀링포인트 4개(아주대병원·학교·공원·교통) ③입지 이미지 갤러리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④평면도 타입 탭 ⑤청약 마감 카운트다운 ⑥관심고객 등록폼(이름·연락처·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  관심타입만, '무분별한 연락 안 함' 안심문구 포함) ⑦FAQ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⑧스크롤 시 나타나는 하단 고정 CTA(전화·등록).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디자인: 청록(#0e7c79)+샌드(#b8986a) 프리미엄 톤,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  한글 폰트 Pretendard+나눔명조.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이미지는 image/교육_2.jpg ~ 교육_11.jpg 사용. 카운트다운·폼 검증·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5302F"/>
                </a:solidFill>
                <a:latin typeface="Consolas"/>
                <a:ea typeface="Consolas"/>
                <a:cs typeface="Consolas"/>
              </a:rPr>
              <a:t>이미지 확대(라이트박스) 자바스크립트 포함.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10000"/>
            <a:ext cx="103632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5A605C"/>
                </a:solidFill>
                <a:latin typeface="맑은 고딕"/>
                <a:ea typeface="맑은 고딕"/>
                <a:cs typeface="맑은 고딕"/>
              </a:rPr>
              <a:t>핵심정보·섹션 순서·색·폰트·이미지 경로까지 구체적으로 적을수록 결과가 좋아집니다.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32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PROMPT EXAMPLE ②③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고칠 때 — 한 가지씩 말로 지시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50720"/>
            <a:ext cx="960120" cy="540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20000"/>
            <a:ext cx="10500000" cy="3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② 개선 프롬프트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"히어로 배경에 조감도(image/hero_render.jpg)를 깔고 위에 어두운 그라데이션을 올려 글씨가 잘 보이게 해줘"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"폼 항목이 너무 많아. 이름·연락처·관심타입 3개로 줄이고 버튼 문구를 '분양 혜택 안내받기'로 바꿔줘"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"스크롤하면 화면 하단에 '전화상담'·'관심고객 등록' 고정 버튼바가 나타나게 해줘"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"관심고객 폼을 구글 스프레드시트에 저장되게 Apps Script 연동 코드와 방법을 알려줘"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"청약 마감까지 남은 시간을 실시간 카운트다운으로 보여줘"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 b="1" i="0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③ 디버깅·마무리 프롬프트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"모바일에서 가로 스크롤이 생겨. 원인을 찾아서 고쳐줘"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"전화번호를 010-6689-2348로 전부 바꿔줘"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"분양 광고 필수 고지문구(시행사·예정사항 안내)를 푸터에 넣어줘"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50" b="0" i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"이 페이지를 Vercel 또는 Netlify로 배포하는 방법을 알려줘"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6080000"/>
            <a:ext cx="10363200" cy="560000"/>
          </a:xfrm>
          <a:prstGeom prst="round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228600" bIns="9144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번에 하나씩 고치면 어디가 바뀌었는지 확인하기 쉽습니다.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32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LEAD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100" b="1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누가 데이터를 가져왔나 — 제작자 코드 추적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50720"/>
            <a:ext cx="960120" cy="54000"/>
          </a:xfrm>
          <a:prstGeom prst="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00000"/>
            <a:ext cx="10800000" cy="3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500" b="1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영업담당(제작자)마다 고유번호 부여 → 링크 뒤에 </a:t>
            </a:r>
            <a:r>
              <a:rPr sz="1500" b="1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?ref=A001&amp;by=홍길동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 만 다르게 배포 (한 파일, 여러 링크)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500" b="1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고객이 폼을 남기면 → 고객성함·연락처 + 제작자ID·제작자명 + 자동 고유접수번호</a:t>
            </a:r>
            <a:r>
              <a:rPr sz="1500" b="1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(MS-00001)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가 구글시트에 기록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500" b="1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전화걸기 클릭도 기록 → 어느 페이지·어느 제작자·시각·기기 + 콜백 번호</a:t>
            </a:r>
            <a:r>
              <a:rPr sz="1500" b="1">
                <a:solidFill>
                  <a:srgbClr val="0E7C79"/>
                </a:solidFill>
                <a:latin typeface="맑은 고딕"/>
                <a:ea typeface="맑은 고딕"/>
                <a:cs typeface="맑은 고딕"/>
              </a:rPr>
              <a:t>(CALL-00001)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, 별도 '전화기록' 시트에 저장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500" b="1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※ 웹은 전화 건 사람의 번호를 자동으로 못 읽음 → 콜백 번호는 '선택 입력'으로 받음(미입력해도 클릭은 기록)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500" b="1">
                <a:solidFill>
                  <a:srgbClr val="B8986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5302F"/>
                </a:solidFill>
                <a:latin typeface="맑은 고딕"/>
                <a:ea typeface="맑은 고딕"/>
                <a:cs typeface="맑은 고딕"/>
              </a:rPr>
              <a:t>구글시트 피벗/수식으로 제작자별 등록건수·전화클릭 자동 집계 → 실적 정산·리드 배분에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980000"/>
            <a:ext cx="10363200" cy="620000"/>
          </a:xfrm>
          <a:prstGeom prst="roundRect">
            <a:avLst/>
          </a:prstGeom>
          <a:solidFill>
            <a:srgbClr val="B89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228600" bIns="9144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링크 뒤 ?ref 코드만 다르게 = 누가 가져온 DB인지 100% 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1588</Words>
  <Application>Microsoft Office PowerPoint</Application>
  <PresentationFormat>와이드스크린</PresentationFormat>
  <Paragraphs>235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이신우</cp:lastModifiedBy>
  <cp:revision>3</cp:revision>
  <dcterms:created xsi:type="dcterms:W3CDTF">2013-01-27T09:14:16Z</dcterms:created>
  <dcterms:modified xsi:type="dcterms:W3CDTF">2026-06-26T15:56:13Z</dcterms:modified>
  <cp:category/>
</cp:coreProperties>
</file>